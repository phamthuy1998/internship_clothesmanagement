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98" r:id="rId6"/>
    <p:sldId id="261" r:id="rId7"/>
    <p:sldId id="300" r:id="rId8"/>
    <p:sldId id="292" r:id="rId9"/>
    <p:sldId id="294" r:id="rId10"/>
    <p:sldId id="291" r:id="rId11"/>
    <p:sldId id="293" r:id="rId12"/>
    <p:sldId id="296" r:id="rId13"/>
    <p:sldId id="299" r:id="rId14"/>
    <p:sldId id="267" r:id="rId15"/>
    <p:sldId id="290" r:id="rId16"/>
    <p:sldId id="289" r:id="rId17"/>
    <p:sldId id="295" r:id="rId18"/>
    <p:sldId id="274" r:id="rId19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7"/>
    <a:srgbClr val="FFFFFF"/>
    <a:srgbClr val="F5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27" autoAdjust="0"/>
    <p:restoredTop sz="94264" autoAdjust="0"/>
  </p:normalViewPr>
  <p:slideViewPr>
    <p:cSldViewPr>
      <p:cViewPr varScale="1">
        <p:scale>
          <a:sx n="81" d="100"/>
          <a:sy n="81" d="100"/>
        </p:scale>
        <p:origin x="9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A11813-8C62-4FEB-B499-9774A651BB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FB564-9060-441E-AD27-A3B9C06107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5DD1B1C-C497-421F-B06C-F532CF0F9785}" type="datetimeFigureOut">
              <a:rPr lang="en-US" smtClean="0"/>
              <a:t>2020-12-26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08588-E33E-4838-BD11-6AAABC6560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35C80-A3D2-459C-A5F6-739A596083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33743F4-331E-4894-8D02-8CE4D5A0E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3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CD4A5DF-C9ED-4331-9C0A-D1B49AAB54A9}" type="datetimeFigureOut">
              <a:rPr lang="en-US" smtClean="0"/>
              <a:t>2020-12-26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71800" y="549275"/>
            <a:ext cx="36576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F0BF855-582C-4A2A-9C45-DF51A1CC0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796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61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18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41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74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88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97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34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31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98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67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74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14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14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96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14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0BF855-582C-4A2A-9C45-DF51A1CC05D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1D79-6F36-44BF-B02B-3E9EF5EB5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7343A-2E02-40B2-9F32-5F39731BD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FB308-1328-4C44-A809-618C354C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E5AE1-51AB-4DD7-AFDA-C689F3D19118}" type="datetime1">
              <a:rPr lang="vi-VN" smtClean="0"/>
              <a:t>26/12/2020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F4FD5-F906-4D3A-BCEA-20CCFAFF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69D20-CD22-41B5-AB0F-C38555AC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4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5221-A680-44CC-B871-0907AF1B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9CFA2-15B1-41A3-9C86-A76784F4B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1801F-AEB5-4978-8AA8-019005C3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DC01-8846-40E9-B799-0E07AAA49BEC}" type="datetime1">
              <a:rPr lang="vi-VN" smtClean="0"/>
              <a:t>26/12/2020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81318-D7EC-4631-90F2-BDAE2388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39B23-885F-4353-8D60-F2451B12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38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F778-553F-4CAE-887D-778FC6A6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6F041-9052-426D-A251-6D2B9E94B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F698F-F971-4586-8B0A-A1345171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F9A5-B3F6-46F7-AD75-C989E8325122}" type="datetime1">
              <a:rPr lang="vi-VN" smtClean="0"/>
              <a:t>26/12/2020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EBF59-8F11-41FE-BF32-3B878C63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5692-298D-42A6-A232-20C6701A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0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040C-1105-445C-B833-379790ED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29482-1F0E-47D1-B309-163251896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06548-1585-4422-9979-BDA7ADB15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DC69-84A9-4ABD-B97E-0B4ED339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F9C03-9CAC-44AC-A0F1-8DDF62A2D84B}" type="datetime1">
              <a:rPr lang="vi-VN" smtClean="0"/>
              <a:t>26/12/2020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749F0-5ED6-45C7-BD58-B8F956B6D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252C2-CA3C-4243-A1CB-23830557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1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56E4-29AF-4954-A98C-825B864D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22092-CC07-4CD1-9506-7827FBAF8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993C5-E481-4A0F-ACB5-3DE9A8360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0233-4AF6-427F-9270-9FCB0E411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6809D-80DE-4FD3-B647-BE8C1D980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18F7C-4625-45FC-9D37-6FEED19F2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D13D-9F61-4D8F-9698-21867E4CD9B9}" type="datetime1">
              <a:rPr lang="vi-VN" smtClean="0"/>
              <a:t>26/12/2020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1BCBD-DDC1-483F-8E76-66A12D79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F7D32-C35B-431B-B76C-24012CB3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5202-EB75-49DF-8125-2CCEB8AD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29637-2D05-4AB3-9086-3C437DE0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7FE4-D32E-40ED-B448-61BAC8121B2D}" type="datetime1">
              <a:rPr lang="vi-VN" smtClean="0"/>
              <a:t>26/12/2020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71713-9C7B-41D3-A9DE-E77D58E1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044CA-0617-41B4-BF74-4B3FE1AF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51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62BFA-21E0-4FC2-9390-21238800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1CDAF-E051-4F1D-AFB3-2F89E75E5B3C}" type="datetime1">
              <a:rPr lang="vi-VN" smtClean="0"/>
              <a:t>26/12/2020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2E059-5887-4FE9-8728-AC997100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A3130-4108-4532-B91B-06300DB6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4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7863-9470-42B0-A24A-7A4E665B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1AF9C-BF1C-4741-98C3-E9F9D2987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40CAF-1E59-478E-AD90-918057DBC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6AF93-7DB5-4452-AC83-50B76B59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52AD-E1AD-468A-8594-F91821F476C5}" type="datetime1">
              <a:rPr lang="vi-VN" smtClean="0"/>
              <a:t>26/12/2020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8256C-A719-429A-95F2-B3D1B950B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CC4A8-FF07-43E2-B87F-B71F129E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2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E366-59CA-4DDA-8FA2-C426E0C3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9812C-7965-4F07-A70B-48B29222A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B35CA-D813-4CEE-81A5-BB9E4B7C7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592B5-BC3B-4413-AAD7-ED9A4FB0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19EC7-5A5F-4DCF-AD5F-A48B446D5444}" type="datetime1">
              <a:rPr lang="vi-VN" smtClean="0"/>
              <a:t>26/12/2020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B6CED-B651-4791-82E1-E30BC3E6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36696-0BBB-4411-B1E3-0C89001D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4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136-50DA-4FC9-8D8A-22FE5538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087AD-F06D-421E-8228-D9ADD8923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09A92-53E7-4E81-B031-084D8C72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4C520-BDAE-4C21-95CB-066C78B7780E}" type="datetime1">
              <a:rPr lang="vi-VN" smtClean="0"/>
              <a:t>26/12/2020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EC247-67FB-45AE-8F7F-C8BFC9F7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EB971-C4CD-4BA4-938F-87C8248B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8CEDD-9DA9-4A52-B9CD-E5C7C9570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8D7CC-EF8C-4004-A14F-C2C73BE86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78DC7-B0EA-4DCE-B843-2F0D8969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44E80-43C3-4E0C-8726-08BBD57F899E}" type="datetime1">
              <a:rPr lang="vi-VN" smtClean="0"/>
              <a:t>26/12/2020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50759-8201-44AF-8C57-56EF6DA7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BC107-652A-46DB-8D9E-3FC1D207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15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97DCDD-1D13-484E-8CC2-99031189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80034-1F4F-4EAB-BF19-0904E8A88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D8177-2F3E-4E32-9FC0-BCC853173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43A39-4BF9-4297-886F-D2023905E437}" type="datetime1">
              <a:rPr lang="vi-VN" smtClean="0"/>
              <a:t>26/12/2020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6DFDA-1599-4A77-9321-BF931C08C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E5115-FF51-48AB-879C-4D715106B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1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480" y="293546"/>
            <a:ext cx="7217144" cy="137160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THÔNG TIN VÀ TRUYỀN THÔNG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VIỆN CÔNG NGHỆ BƯU CHÍNH VIỄN THÔNG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SỞ TP. HỒ CHÍ MINH</a:t>
            </a: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1593981" y="3412026"/>
            <a:ext cx="6324600" cy="87311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XÂY DỰNG ỨNG DỤNG BÁN HÀNG THỜI TRANG TRÊN NỀN TẢNG ANDROID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0" y="2895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81" y="45720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0" y="4664960"/>
            <a:ext cx="4883019" cy="1899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GV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: ThS. HUỲNH TRUNG TRỤ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SV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: PHẠM THỊ THỦY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MSSV	       : N16DCCN159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Lớp	       : D16CQCP01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Hệ	       : Đại học chính quy </a:t>
            </a:r>
            <a:endParaRPr lang="en-US" sz="16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114800" y="1143000"/>
            <a:ext cx="2057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ubtitle 9">
            <a:extLst>
              <a:ext uri="{FF2B5EF4-FFF2-40B4-BE49-F238E27FC236}">
                <a16:creationId xmlns:a16="http://schemas.microsoft.com/office/drawing/2014/main" id="{51D8AB10-E4F9-4BF1-83DA-EFA26A1E2E7B}"/>
              </a:ext>
            </a:extLst>
          </p:cNvPr>
          <p:cNvSpPr txBox="1">
            <a:spLocks/>
          </p:cNvSpPr>
          <p:nvPr/>
        </p:nvSpPr>
        <p:spPr>
          <a:xfrm>
            <a:off x="1371600" y="2024633"/>
            <a:ext cx="6913984" cy="1097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BÁO CÁO </a:t>
            </a:r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ĐỒ ÁN TỐT NGHIỆP ĐẠI HỌC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6B126-7054-4BE5-92FA-A0239902795A}"/>
              </a:ext>
            </a:extLst>
          </p:cNvPr>
          <p:cNvSpPr txBox="1"/>
          <p:nvPr/>
        </p:nvSpPr>
        <p:spPr>
          <a:xfrm>
            <a:off x="838200" y="3481866"/>
            <a:ext cx="923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Đề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tài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1971560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99026" y="1524000"/>
            <a:ext cx="6705600" cy="3810000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519E4BC-5636-4EBF-A3C3-56621DF1D115}"/>
              </a:ext>
            </a:extLst>
          </p:cNvPr>
          <p:cNvSpPr txBox="1">
            <a:spLocks/>
          </p:cNvSpPr>
          <p:nvPr/>
        </p:nvSpPr>
        <p:spPr>
          <a:xfrm>
            <a:off x="809625" y="662780"/>
            <a:ext cx="7886700" cy="623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BÁO CÁO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F623FC-DF15-46F0-8648-FDE2DC94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3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9807"/>
            <a:ext cx="7886700" cy="1325563"/>
          </a:xfrm>
        </p:spPr>
        <p:txBody>
          <a:bodyPr>
            <a:normAutofit/>
          </a:bodyPr>
          <a:lstStyle/>
          <a:p>
            <a:pPr marL="571500" indent="-571500" algn="ctr">
              <a:buFont typeface="+mj-lt"/>
              <a:buAutoNum type="romanUcPeriod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ĐÍCH CHỌN ĐỀ TÀI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A971A3-FC47-4B56-87AE-098BBBAF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074" name="Picture 2" descr="8 Memory Techniques For A Better Study Session | GradePower Learning">
            <a:extLst>
              <a:ext uri="{FF2B5EF4-FFF2-40B4-BE49-F238E27FC236}">
                <a16:creationId xmlns:a16="http://schemas.microsoft.com/office/drawing/2014/main" id="{032D41D0-52B2-416B-B01C-065C36FF1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2085865" cy="208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6F1EFD-00D8-4D8C-966C-41F8238ABD03}"/>
              </a:ext>
            </a:extLst>
          </p:cNvPr>
          <p:cNvSpPr txBox="1"/>
          <p:nvPr/>
        </p:nvSpPr>
        <p:spPr>
          <a:xfrm>
            <a:off x="533400" y="4579054"/>
            <a:ext cx="2025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picture containing clock, meter&#10;&#10;Description automatically generated">
            <a:extLst>
              <a:ext uri="{FF2B5EF4-FFF2-40B4-BE49-F238E27FC236}">
                <a16:creationId xmlns:a16="http://schemas.microsoft.com/office/drawing/2014/main" id="{78B4DEBD-6378-4E94-A234-1627548F17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276" y="1897537"/>
            <a:ext cx="2996531" cy="2369350"/>
          </a:xfrm>
          <a:prstGeom prst="rect">
            <a:avLst/>
          </a:prstGeom>
        </p:spPr>
      </p:pic>
      <p:pic>
        <p:nvPicPr>
          <p:cNvPr id="3078" name="Picture 6" descr="Flat App Icon - GPN DATA blog">
            <a:extLst>
              <a:ext uri="{FF2B5EF4-FFF2-40B4-BE49-F238E27FC236}">
                <a16:creationId xmlns:a16="http://schemas.microsoft.com/office/drawing/2014/main" id="{1BD5CBC2-5D57-4E28-9869-36F8A9D72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1767075"/>
            <a:ext cx="260985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2272D8-3FDD-4201-8F87-CEBC3D272211}"/>
              </a:ext>
            </a:extLst>
          </p:cNvPr>
          <p:cNvSpPr txBox="1"/>
          <p:nvPr/>
        </p:nvSpPr>
        <p:spPr>
          <a:xfrm>
            <a:off x="3618853" y="4579054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DA1E7E-66FA-47ED-9F37-9F298CE07CB9}"/>
              </a:ext>
            </a:extLst>
          </p:cNvPr>
          <p:cNvSpPr txBox="1"/>
          <p:nvPr/>
        </p:nvSpPr>
        <p:spPr>
          <a:xfrm>
            <a:off x="6220021" y="457905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793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" y="457200"/>
            <a:ext cx="8839200" cy="7684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CÁC CÔNG CỤ &amp; CÔNG NGHỆ SỬ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970" y="1090780"/>
            <a:ext cx="7010400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CỤ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4.0.1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 2014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2015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Kotlin, C#, XML, SQL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MVC, MVVM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API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14BFD-F7B8-4722-B7E0-1E6890A6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098" name="Picture 2" descr="Android Developers Blog: Android Studio 3.6">
            <a:extLst>
              <a:ext uri="{FF2B5EF4-FFF2-40B4-BE49-F238E27FC236}">
                <a16:creationId xmlns:a16="http://schemas.microsoft.com/office/drawing/2014/main" id="{75C0A6B1-F311-4D56-9634-43A3639CE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4" y="1474209"/>
            <a:ext cx="528778" cy="52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ql Logo Icon of Flat style - Available in SVG, PNG, EPS, AI &amp; Icon fonts">
            <a:extLst>
              <a:ext uri="{FF2B5EF4-FFF2-40B4-BE49-F238E27FC236}">
                <a16:creationId xmlns:a16="http://schemas.microsoft.com/office/drawing/2014/main" id="{90B95F7B-2487-4C3E-8E0E-5A73E593E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086" y="2124826"/>
            <a:ext cx="528778" cy="52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File:Visual Studio Icon 2019.svg - Wikimedia Commons">
            <a:extLst>
              <a:ext uri="{FF2B5EF4-FFF2-40B4-BE49-F238E27FC236}">
                <a16:creationId xmlns:a16="http://schemas.microsoft.com/office/drawing/2014/main" id="{FF19EC33-1FBD-4362-A1C9-1D49569B5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4" y="2882397"/>
            <a:ext cx="528778" cy="52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ostman Announces Launch of its API Network — the Most Useful &amp; Authentic  Directory of Public APIs">
            <a:extLst>
              <a:ext uri="{FF2B5EF4-FFF2-40B4-BE49-F238E27FC236}">
                <a16:creationId xmlns:a16="http://schemas.microsoft.com/office/drawing/2014/main" id="{9B6CC738-0333-48B9-929A-D7E6C113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759" y="3511874"/>
            <a:ext cx="751468" cy="751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77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" y="457200"/>
            <a:ext cx="8839200" cy="76845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CÁC CÔNG CỤ &amp; CÔNG NGHỆ SỬ DỤNG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14BFD-F7B8-4722-B7E0-1E6890A6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 descr="Android App Development Company, Android Mobile App Development Services |  MintTM">
            <a:extLst>
              <a:ext uri="{FF2B5EF4-FFF2-40B4-BE49-F238E27FC236}">
                <a16:creationId xmlns:a16="http://schemas.microsoft.com/office/drawing/2014/main" id="{BC4BF73F-DA30-48E6-9D4B-851852021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0461"/>
            <a:ext cx="3886200" cy="238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# WinForm Tutorials - DEV">
            <a:extLst>
              <a:ext uri="{FF2B5EF4-FFF2-40B4-BE49-F238E27FC236}">
                <a16:creationId xmlns:a16="http://schemas.microsoft.com/office/drawing/2014/main" id="{B3567ED9-7CA1-4A18-900C-62DA4B390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09" y="4274008"/>
            <a:ext cx="3081867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implify the interconnection between ⚡energy systems, ⚙️machines and  👨‍🔧people. The power of WEB APIs and MQTT. - Electrex - the energy saving  technology">
            <a:extLst>
              <a:ext uri="{FF2B5EF4-FFF2-40B4-BE49-F238E27FC236}">
                <a16:creationId xmlns:a16="http://schemas.microsoft.com/office/drawing/2014/main" id="{BDECA7D5-C605-4DAE-B714-C3C534007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619" y="609600"/>
            <a:ext cx="2919731" cy="2919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0B7745-9284-4148-81B4-45222269E321}"/>
              </a:ext>
            </a:extLst>
          </p:cNvPr>
          <p:cNvSpPr txBox="1"/>
          <p:nvPr/>
        </p:nvSpPr>
        <p:spPr>
          <a:xfrm>
            <a:off x="1379903" y="6222010"/>
            <a:ext cx="2385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Winform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5AD82-5F81-42A6-B473-8FFBA892C243}"/>
              </a:ext>
            </a:extLst>
          </p:cNvPr>
          <p:cNvSpPr txBox="1"/>
          <p:nvPr/>
        </p:nvSpPr>
        <p:spPr>
          <a:xfrm>
            <a:off x="1384616" y="3434876"/>
            <a:ext cx="245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Android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</p:txBody>
      </p:sp>
      <p:pic>
        <p:nvPicPr>
          <p:cNvPr id="1032" name="Picture 8" descr="Cloud and SQL Database Integration - UniSecure Datacenters Blog">
            <a:extLst>
              <a:ext uri="{FF2B5EF4-FFF2-40B4-BE49-F238E27FC236}">
                <a16:creationId xmlns:a16="http://schemas.microsoft.com/office/drawing/2014/main" id="{E74CE06F-C7FC-473C-8E4E-F995211E1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931" y="3643109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Up-Down 4">
            <a:extLst>
              <a:ext uri="{FF2B5EF4-FFF2-40B4-BE49-F238E27FC236}">
                <a16:creationId xmlns:a16="http://schemas.microsoft.com/office/drawing/2014/main" id="{2F020513-085A-4605-B196-542D222110C3}"/>
              </a:ext>
            </a:extLst>
          </p:cNvPr>
          <p:cNvSpPr/>
          <p:nvPr/>
        </p:nvSpPr>
        <p:spPr>
          <a:xfrm>
            <a:off x="6765916" y="2895599"/>
            <a:ext cx="259716" cy="63373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A7E27BA5-45F4-4BDC-AF1A-2A8C70E3C5FF}"/>
              </a:ext>
            </a:extLst>
          </p:cNvPr>
          <p:cNvSpPr/>
          <p:nvPr/>
        </p:nvSpPr>
        <p:spPr>
          <a:xfrm>
            <a:off x="4191000" y="1981200"/>
            <a:ext cx="16002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DFD1AA5F-A064-4E2C-B03B-E12F1F81FFD8}"/>
              </a:ext>
            </a:extLst>
          </p:cNvPr>
          <p:cNvSpPr/>
          <p:nvPr/>
        </p:nvSpPr>
        <p:spPr>
          <a:xfrm rot="10800000">
            <a:off x="4194142" y="2366319"/>
            <a:ext cx="16002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7C2B8731-E441-46AD-8AE0-170BFDFF0577}"/>
              </a:ext>
            </a:extLst>
          </p:cNvPr>
          <p:cNvSpPr/>
          <p:nvPr/>
        </p:nvSpPr>
        <p:spPr>
          <a:xfrm>
            <a:off x="4249932" y="4673142"/>
            <a:ext cx="16002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63FCB241-06AB-482D-AE84-B71F47A731DE}"/>
              </a:ext>
            </a:extLst>
          </p:cNvPr>
          <p:cNvSpPr/>
          <p:nvPr/>
        </p:nvSpPr>
        <p:spPr>
          <a:xfrm rot="10800000">
            <a:off x="4253074" y="5058261"/>
            <a:ext cx="16002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31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50FA013-CCB5-4801-B277-DEDC8C44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534400" cy="54960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&amp; THIẾT KẾ HỆ THỐNG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01871-3AAF-4D92-8AAD-71FA7EC9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8DD97-4FCE-461E-A3CB-2DE32B201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434160"/>
            <a:ext cx="7596825" cy="5423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AFAE85-3659-44C1-A206-1BFD0AF776BF}"/>
              </a:ext>
            </a:extLst>
          </p:cNvPr>
          <p:cNvSpPr txBox="1"/>
          <p:nvPr/>
        </p:nvSpPr>
        <p:spPr>
          <a:xfrm>
            <a:off x="556575" y="1025339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</a:t>
            </a:r>
            <a:r>
              <a:rPr lang="vi-VN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ợc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năng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9275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50FA013-CCB5-4801-B277-DEDC8C44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534400" cy="54960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&amp; THIẾT KẾ HỆ THỐNG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17F5CC-E546-42E3-BC77-8F7A1ECD5DCB}"/>
              </a:ext>
            </a:extLst>
          </p:cNvPr>
          <p:cNvSpPr txBox="1"/>
          <p:nvPr/>
        </p:nvSpPr>
        <p:spPr>
          <a:xfrm>
            <a:off x="556575" y="1025339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</a:t>
            </a:r>
            <a:r>
              <a:rPr lang="vi-VN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ợc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Use case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hàng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01871-3AAF-4D92-8AAD-71FA7EC9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20B9D-AE4C-4F33-87D5-C65569C4B6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63822"/>
            <a:ext cx="7239000" cy="541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1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8F1E7DF-43FD-4D73-A997-B3BC22AC61DA}"/>
              </a:ext>
            </a:extLst>
          </p:cNvPr>
          <p:cNvSpPr txBox="1"/>
          <p:nvPr/>
        </p:nvSpPr>
        <p:spPr>
          <a:xfrm>
            <a:off x="681671" y="1066800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</a:t>
            </a:r>
            <a:r>
              <a:rPr lang="vi-VN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ợc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Use case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viên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9987A5-E716-4620-BB07-A0CDDA82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EB83C-9563-41C4-BED6-129C2EA1B6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433837"/>
            <a:ext cx="6988571" cy="529909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9C7D1DC-8CE4-4070-9783-CB4CB0AC3DE0}"/>
              </a:ext>
            </a:extLst>
          </p:cNvPr>
          <p:cNvSpPr txBox="1">
            <a:spLocks/>
          </p:cNvSpPr>
          <p:nvPr/>
        </p:nvSpPr>
        <p:spPr>
          <a:xfrm>
            <a:off x="301752" y="457200"/>
            <a:ext cx="8534400" cy="68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&amp; THIẾT KẾ HỆ THỐNG</a:t>
            </a:r>
          </a:p>
        </p:txBody>
      </p:sp>
    </p:spTree>
    <p:extLst>
      <p:ext uri="{BB962C8B-B14F-4D97-AF65-F5344CB8AC3E}">
        <p14:creationId xmlns:p14="http://schemas.microsoft.com/office/powerpoint/2010/main" val="1707396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D8E8912-DCC0-462D-925C-639221561CB2}"/>
              </a:ext>
            </a:extLst>
          </p:cNvPr>
          <p:cNvSpPr txBox="1">
            <a:spLocks/>
          </p:cNvSpPr>
          <p:nvPr/>
        </p:nvSpPr>
        <p:spPr>
          <a:xfrm>
            <a:off x="301752" y="457200"/>
            <a:ext cx="8534400" cy="68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&amp; THIẾT KẾ HỆ THỐNG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9987A5-E716-4620-BB07-A0CDDA82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58337-F22B-41C5-9628-B7C2C0FAE1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006929"/>
            <a:ext cx="6553200" cy="58510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C6C3C3-8F06-42B3-BD8C-5277E44487E0}"/>
              </a:ext>
            </a:extLst>
          </p:cNvPr>
          <p:cNvSpPr/>
          <p:nvPr/>
        </p:nvSpPr>
        <p:spPr>
          <a:xfrm>
            <a:off x="685800" y="1140755"/>
            <a:ext cx="3143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</a:t>
            </a:r>
            <a:r>
              <a:rPr lang="vi-VN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Use case </a:t>
            </a:r>
            <a:r>
              <a:rPr lang="en-US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viên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974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272A4F-CAA2-44AB-AEDA-1A809188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D00951-A520-4294-B907-A05F8A1621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1442303"/>
            <a:ext cx="9144000" cy="527917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DD8A123-F2C3-47CD-AE5B-261C99803F9A}"/>
              </a:ext>
            </a:extLst>
          </p:cNvPr>
          <p:cNvSpPr txBox="1">
            <a:spLocks/>
          </p:cNvSpPr>
          <p:nvPr/>
        </p:nvSpPr>
        <p:spPr>
          <a:xfrm>
            <a:off x="301752" y="457200"/>
            <a:ext cx="8534400" cy="68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&amp; THIẾT KẾ HỆ THỐNG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F6F86-DB74-4BFB-A177-C82230FAFF5F}"/>
              </a:ext>
            </a:extLst>
          </p:cNvPr>
          <p:cNvSpPr txBox="1"/>
          <p:nvPr/>
        </p:nvSpPr>
        <p:spPr>
          <a:xfrm>
            <a:off x="681671" y="1066800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</a:t>
            </a:r>
            <a:r>
              <a:rPr lang="vi-VN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ợc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ERD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6063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8F1E7DF-43FD-4D73-A997-B3BC22AC61DA}"/>
              </a:ext>
            </a:extLst>
          </p:cNvPr>
          <p:cNvSpPr txBox="1"/>
          <p:nvPr/>
        </p:nvSpPr>
        <p:spPr>
          <a:xfrm>
            <a:off x="681671" y="1066800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</a:t>
            </a:r>
            <a:r>
              <a:rPr lang="vi-VN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ợc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diagram</a:t>
            </a: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0C6C48-DE4A-4E38-866A-0A97847E1D5F}"/>
              </a:ext>
            </a:extLst>
          </p:cNvPr>
          <p:cNvSpPr txBox="1">
            <a:spLocks/>
          </p:cNvSpPr>
          <p:nvPr/>
        </p:nvSpPr>
        <p:spPr>
          <a:xfrm>
            <a:off x="301752" y="457200"/>
            <a:ext cx="8534400" cy="68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HỆ THỐNG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54A36B-7B8C-4B71-A337-64D0CD47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3DD1E-C850-46B4-8FFA-EFA45F2CC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1490216"/>
            <a:ext cx="8994648" cy="521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608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8F1E7DF-43FD-4D73-A997-B3BC22AC61DA}"/>
              </a:ext>
            </a:extLst>
          </p:cNvPr>
          <p:cNvSpPr txBox="1"/>
          <p:nvPr/>
        </p:nvSpPr>
        <p:spPr>
          <a:xfrm>
            <a:off x="681671" y="1066800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</a:t>
            </a:r>
            <a:r>
              <a:rPr lang="vi-VN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ợc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diagram</a:t>
            </a: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0C6C48-DE4A-4E38-866A-0A97847E1D5F}"/>
              </a:ext>
            </a:extLst>
          </p:cNvPr>
          <p:cNvSpPr txBox="1">
            <a:spLocks/>
          </p:cNvSpPr>
          <p:nvPr/>
        </p:nvSpPr>
        <p:spPr>
          <a:xfrm>
            <a:off x="301752" y="457200"/>
            <a:ext cx="8534400" cy="68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PHÂN TÍCH HỆ THỐNG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54A36B-7B8C-4B71-A337-64D0CD47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AE8A6C-E9DF-41AC-A508-FC1E7EDC1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08387"/>
            <a:ext cx="8305800" cy="534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21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6A7CEE-23C8-405B-8D7B-F5D3CF5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ACB29D8-0501-4D55-9E9A-555B17CED14D}"/>
              </a:ext>
            </a:extLst>
          </p:cNvPr>
          <p:cNvSpPr/>
          <p:nvPr/>
        </p:nvSpPr>
        <p:spPr>
          <a:xfrm>
            <a:off x="787821" y="2505103"/>
            <a:ext cx="990600" cy="9906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endParaRPr lang="en-US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5D853CE-A3A4-43FF-A736-057D8B6899CB}"/>
              </a:ext>
            </a:extLst>
          </p:cNvPr>
          <p:cNvSpPr/>
          <p:nvPr/>
        </p:nvSpPr>
        <p:spPr>
          <a:xfrm>
            <a:off x="381000" y="5341595"/>
            <a:ext cx="1211973" cy="121197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QL Ng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D42DDC0-F4A4-47C6-BD5A-D96DBC3769EA}"/>
              </a:ext>
            </a:extLst>
          </p:cNvPr>
          <p:cNvSpPr/>
          <p:nvPr/>
        </p:nvSpPr>
        <p:spPr>
          <a:xfrm>
            <a:off x="6207703" y="2366760"/>
            <a:ext cx="1211973" cy="121197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QL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38F0BC0-E9E7-42BC-B7F3-B361DA3E519F}"/>
              </a:ext>
            </a:extLst>
          </p:cNvPr>
          <p:cNvSpPr/>
          <p:nvPr/>
        </p:nvSpPr>
        <p:spPr>
          <a:xfrm>
            <a:off x="1571706" y="3639405"/>
            <a:ext cx="1824433" cy="1846995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QL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màu</a:t>
            </a:r>
            <a:r>
              <a:rPr lang="en-US" dirty="0"/>
              <a:t> &amp; size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BAE711E-57F4-4BA8-8D9A-0E56E2EE881B}"/>
              </a:ext>
            </a:extLst>
          </p:cNvPr>
          <p:cNvSpPr/>
          <p:nvPr/>
        </p:nvSpPr>
        <p:spPr>
          <a:xfrm>
            <a:off x="3782255" y="2303713"/>
            <a:ext cx="1741759" cy="1741759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QL đ</a:t>
            </a:r>
            <a:r>
              <a:rPr lang="vi-VN" dirty="0"/>
              <a:t>ơ</a:t>
            </a:r>
            <a:r>
              <a:rPr lang="en-US" dirty="0"/>
              <a:t>n </a:t>
            </a:r>
            <a:r>
              <a:rPr lang="en-US" dirty="0" err="1"/>
              <a:t>hàng</a:t>
            </a:r>
            <a:endParaRPr lang="en-US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830E42D3-F015-4BE9-9431-7FD623CC5E9D}"/>
              </a:ext>
            </a:extLst>
          </p:cNvPr>
          <p:cNvSpPr/>
          <p:nvPr/>
        </p:nvSpPr>
        <p:spPr>
          <a:xfrm>
            <a:off x="1697637" y="659211"/>
            <a:ext cx="2109451" cy="2272302"/>
          </a:xfrm>
          <a:prstGeom prst="flowChartConnector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endParaRPr lang="en-US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A501B7C5-FD47-438E-B441-21E5D1EFBFDD}"/>
              </a:ext>
            </a:extLst>
          </p:cNvPr>
          <p:cNvSpPr/>
          <p:nvPr/>
        </p:nvSpPr>
        <p:spPr>
          <a:xfrm>
            <a:off x="4616206" y="-297753"/>
            <a:ext cx="2591922" cy="2591922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kho</a:t>
            </a:r>
            <a:endParaRPr lang="en-US" dirty="0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2958F9C2-E4B8-44F0-A739-131C76597CB4}"/>
              </a:ext>
            </a:extLst>
          </p:cNvPr>
          <p:cNvSpPr/>
          <p:nvPr/>
        </p:nvSpPr>
        <p:spPr>
          <a:xfrm>
            <a:off x="7844088" y="4746043"/>
            <a:ext cx="1558487" cy="15584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CBE815D8-F93A-42FF-B287-780EB5E0285F}"/>
              </a:ext>
            </a:extLst>
          </p:cNvPr>
          <p:cNvSpPr/>
          <p:nvPr/>
        </p:nvSpPr>
        <p:spPr>
          <a:xfrm>
            <a:off x="7513232" y="882075"/>
            <a:ext cx="1969510" cy="1969510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6B6A04-C702-4FB2-B48A-1382FBDF241A}"/>
              </a:ext>
            </a:extLst>
          </p:cNvPr>
          <p:cNvSpPr txBox="1"/>
          <p:nvPr/>
        </p:nvSpPr>
        <p:spPr>
          <a:xfrm>
            <a:off x="748686" y="848586"/>
            <a:ext cx="320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viên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AA441B4-2F6E-478D-B480-DD9AA7C30D40}"/>
              </a:ext>
            </a:extLst>
          </p:cNvPr>
          <p:cNvSpPr txBox="1">
            <a:spLocks/>
          </p:cNvSpPr>
          <p:nvPr/>
        </p:nvSpPr>
        <p:spPr>
          <a:xfrm>
            <a:off x="-76200" y="372649"/>
            <a:ext cx="8915400" cy="5526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DE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2E39BE65-C1BE-4111-BB62-9739A2CFD5CC}"/>
              </a:ext>
            </a:extLst>
          </p:cNvPr>
          <p:cNvSpPr/>
          <p:nvPr/>
        </p:nvSpPr>
        <p:spPr>
          <a:xfrm>
            <a:off x="6223643" y="4104328"/>
            <a:ext cx="1420958" cy="1420958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QL </a:t>
            </a:r>
            <a:r>
              <a:rPr lang="en-US" dirty="0" err="1"/>
              <a:t>Khuyến</a:t>
            </a:r>
            <a:r>
              <a:rPr lang="en-US" dirty="0"/>
              <a:t> </a:t>
            </a:r>
            <a:r>
              <a:rPr lang="en-US" dirty="0" err="1"/>
              <a:t>mãi</a:t>
            </a:r>
            <a:endParaRPr lang="en-US" dirty="0"/>
          </a:p>
        </p:txBody>
      </p:sp>
      <p:pic>
        <p:nvPicPr>
          <p:cNvPr id="1026" name="Picture 2" descr="Admin Icon | Free Large Boss Iconset | Aha-Soft">
            <a:extLst>
              <a:ext uri="{FF2B5EF4-FFF2-40B4-BE49-F238E27FC236}">
                <a16:creationId xmlns:a16="http://schemas.microsoft.com/office/drawing/2014/main" id="{05326B61-49EC-4BCE-91BC-CCC949A66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139" y="3901190"/>
            <a:ext cx="2893381" cy="289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411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B3235A3-3155-43F6-A0B6-9EC6F66536FA}"/>
              </a:ext>
            </a:extLst>
          </p:cNvPr>
          <p:cNvSpPr txBox="1">
            <a:spLocks/>
          </p:cNvSpPr>
          <p:nvPr/>
        </p:nvSpPr>
        <p:spPr>
          <a:xfrm>
            <a:off x="0" y="381000"/>
            <a:ext cx="8915400" cy="5526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DEMO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6A7CEE-23C8-405B-8D7B-F5D3CF5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050" name="Picture 2" descr="Android App Development Company - Csoft Technology">
            <a:extLst>
              <a:ext uri="{FF2B5EF4-FFF2-40B4-BE49-F238E27FC236}">
                <a16:creationId xmlns:a16="http://schemas.microsoft.com/office/drawing/2014/main" id="{208DE294-8C8A-4D89-869D-3A64B591A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815" y="3484563"/>
            <a:ext cx="2527005" cy="287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813C95-D622-41A2-9C59-1173FFC0C266}"/>
              </a:ext>
            </a:extLst>
          </p:cNvPr>
          <p:cNvSpPr txBox="1"/>
          <p:nvPr/>
        </p:nvSpPr>
        <p:spPr>
          <a:xfrm>
            <a:off x="748686" y="848586"/>
            <a:ext cx="320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Khách</a:t>
            </a:r>
            <a:r>
              <a:rPr lang="en-US" sz="24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hàng</a:t>
            </a:r>
            <a:endParaRPr lang="en-US" sz="2400" dirty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99DAD1A9-92B7-4709-8C35-6219B1782C87}"/>
              </a:ext>
            </a:extLst>
          </p:cNvPr>
          <p:cNvSpPr/>
          <p:nvPr/>
        </p:nvSpPr>
        <p:spPr>
          <a:xfrm>
            <a:off x="1878381" y="3518710"/>
            <a:ext cx="2617419" cy="2120090"/>
          </a:xfrm>
          <a:prstGeom prst="hexag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Giỏ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9BA321C6-C11D-4A6D-AAEB-CBDF47E22B15}"/>
              </a:ext>
            </a:extLst>
          </p:cNvPr>
          <p:cNvSpPr/>
          <p:nvPr/>
        </p:nvSpPr>
        <p:spPr>
          <a:xfrm>
            <a:off x="4060025" y="2363560"/>
            <a:ext cx="2617419" cy="2120090"/>
          </a:xfrm>
          <a:prstGeom prst="hexagon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Đăt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C7A9B005-9E9F-4F9E-855D-5129290DC8B3}"/>
              </a:ext>
            </a:extLst>
          </p:cNvPr>
          <p:cNvSpPr/>
          <p:nvPr/>
        </p:nvSpPr>
        <p:spPr>
          <a:xfrm>
            <a:off x="-269413" y="2335882"/>
            <a:ext cx="2617419" cy="2120090"/>
          </a:xfrm>
          <a:prstGeom prst="hexagon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Shop info, </a:t>
            </a:r>
            <a:r>
              <a:rPr lang="en-US" sz="2400" dirty="0" err="1"/>
              <a:t>sổ</a:t>
            </a:r>
            <a:r>
              <a:rPr lang="en-US" sz="2400" dirty="0"/>
              <a:t> </a:t>
            </a:r>
            <a:r>
              <a:rPr lang="en-US" sz="2400" dirty="0" err="1"/>
              <a:t>địa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,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lạc</a:t>
            </a:r>
            <a:endParaRPr lang="en-US" sz="2400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C802956-A8BC-4E8D-9417-36597AC4CBD8}"/>
              </a:ext>
            </a:extLst>
          </p:cNvPr>
          <p:cNvSpPr/>
          <p:nvPr/>
        </p:nvSpPr>
        <p:spPr>
          <a:xfrm>
            <a:off x="1895627" y="1263900"/>
            <a:ext cx="2533346" cy="2051991"/>
          </a:xfrm>
          <a:prstGeom prst="hexagon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Theo </a:t>
            </a:r>
            <a:r>
              <a:rPr lang="en-US" sz="2400" dirty="0" err="1"/>
              <a:t>dõi</a:t>
            </a:r>
            <a:r>
              <a:rPr lang="en-US" sz="2400" dirty="0"/>
              <a:t> ĐH</a:t>
            </a: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BE716036-3216-41CC-8F58-5C205FAFD8E5}"/>
              </a:ext>
            </a:extLst>
          </p:cNvPr>
          <p:cNvSpPr/>
          <p:nvPr/>
        </p:nvSpPr>
        <p:spPr>
          <a:xfrm>
            <a:off x="-291607" y="4568223"/>
            <a:ext cx="2617419" cy="2120090"/>
          </a:xfrm>
          <a:prstGeom prst="hexag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Xem</a:t>
            </a:r>
            <a:r>
              <a:rPr lang="en-US" sz="2400" dirty="0"/>
              <a:t>,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SP</a:t>
            </a:r>
          </a:p>
        </p:txBody>
      </p:sp>
      <p:sp>
        <p:nvSpPr>
          <p:cNvPr id="16" name="Flowchart: Manual Operation 15">
            <a:extLst>
              <a:ext uri="{FF2B5EF4-FFF2-40B4-BE49-F238E27FC236}">
                <a16:creationId xmlns:a16="http://schemas.microsoft.com/office/drawing/2014/main" id="{50D6FEA4-484E-4EC2-B91F-F25CE03EAFA0}"/>
              </a:ext>
            </a:extLst>
          </p:cNvPr>
          <p:cNvSpPr/>
          <p:nvPr/>
        </p:nvSpPr>
        <p:spPr>
          <a:xfrm>
            <a:off x="4018759" y="1255515"/>
            <a:ext cx="2667000" cy="1025996"/>
          </a:xfrm>
          <a:prstGeom prst="flowChartManualOperation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/ </a:t>
            </a:r>
            <a:r>
              <a:rPr lang="en-US" dirty="0" err="1"/>
              <a:t>ĐKí</a:t>
            </a:r>
            <a:endParaRPr lang="en-US" dirty="0"/>
          </a:p>
        </p:txBody>
      </p:sp>
      <p:sp>
        <p:nvSpPr>
          <p:cNvPr id="27" name="Flowchart: Manual Operation 26">
            <a:extLst>
              <a:ext uri="{FF2B5EF4-FFF2-40B4-BE49-F238E27FC236}">
                <a16:creationId xmlns:a16="http://schemas.microsoft.com/office/drawing/2014/main" id="{BA0733A8-F2D4-4195-AA3A-DE1CFBBC2D90}"/>
              </a:ext>
            </a:extLst>
          </p:cNvPr>
          <p:cNvSpPr/>
          <p:nvPr/>
        </p:nvSpPr>
        <p:spPr>
          <a:xfrm rot="10800000">
            <a:off x="1828800" y="5708304"/>
            <a:ext cx="2667000" cy="1025996"/>
          </a:xfrm>
          <a:prstGeom prst="flowChartManualOperation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Hexagon 27">
            <a:extLst>
              <a:ext uri="{FF2B5EF4-FFF2-40B4-BE49-F238E27FC236}">
                <a16:creationId xmlns:a16="http://schemas.microsoft.com/office/drawing/2014/main" id="{66ED1B90-2643-425A-BC30-1CBB306347F7}"/>
              </a:ext>
            </a:extLst>
          </p:cNvPr>
          <p:cNvSpPr/>
          <p:nvPr/>
        </p:nvSpPr>
        <p:spPr>
          <a:xfrm>
            <a:off x="6269944" y="1225527"/>
            <a:ext cx="2617419" cy="2120090"/>
          </a:xfrm>
          <a:prstGeom prst="hexag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Thanh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onl</a:t>
            </a:r>
            <a:endParaRPr lang="en-US" sz="2400" dirty="0"/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8EA79A22-694B-42D3-9523-8D0C240C344A}"/>
              </a:ext>
            </a:extLst>
          </p:cNvPr>
          <p:cNvSpPr/>
          <p:nvPr/>
        </p:nvSpPr>
        <p:spPr>
          <a:xfrm>
            <a:off x="4094590" y="4622596"/>
            <a:ext cx="2617419" cy="2120090"/>
          </a:xfrm>
          <a:prstGeom prst="hexagon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Hỏi</a:t>
            </a:r>
            <a:r>
              <a:rPr lang="en-US" sz="2400" dirty="0"/>
              <a:t> </a:t>
            </a:r>
            <a:r>
              <a:rPr lang="en-US" sz="2400" dirty="0" err="1"/>
              <a:t>đáp</a:t>
            </a:r>
            <a:r>
              <a:rPr lang="en-US" sz="2400" dirty="0"/>
              <a:t>/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endParaRPr lang="en-US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941265-8223-4A00-8318-DF7763CBC4E0}"/>
              </a:ext>
            </a:extLst>
          </p:cNvPr>
          <p:cNvSpPr txBox="1"/>
          <p:nvPr/>
        </p:nvSpPr>
        <p:spPr>
          <a:xfrm>
            <a:off x="2404600" y="5805803"/>
            <a:ext cx="1658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</a:rPr>
              <a:t>Đăng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nhập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đăng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kí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548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53A26647-BC7C-4BD8-80CB-0F822AD2A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10" y="2656068"/>
            <a:ext cx="6614153" cy="4201932"/>
          </a:xfrm>
          <a:prstGeom prst="rect">
            <a:avLst/>
          </a:prstGeom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591568B5-E3A0-40DB-B8D4-87F70FEBBBA6}"/>
              </a:ext>
            </a:extLst>
          </p:cNvPr>
          <p:cNvSpPr/>
          <p:nvPr/>
        </p:nvSpPr>
        <p:spPr>
          <a:xfrm>
            <a:off x="1656027" y="1500779"/>
            <a:ext cx="3938113" cy="1690914"/>
          </a:xfrm>
          <a:prstGeom prst="cloudCallout">
            <a:avLst>
              <a:gd name="adj1" fmla="val -1185"/>
              <a:gd name="adj2" fmla="val 83094"/>
            </a:avLst>
          </a:prstGeom>
          <a:solidFill>
            <a:srgbClr val="104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Tiếp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thu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được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nhiều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kiến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thức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công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nghệ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mới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3987B9BC-0D50-45E6-B586-9BD9AED0CF31}"/>
              </a:ext>
            </a:extLst>
          </p:cNvPr>
          <p:cNvSpPr/>
          <p:nvPr/>
        </p:nvSpPr>
        <p:spPr>
          <a:xfrm rot="966345">
            <a:off x="5623645" y="1994030"/>
            <a:ext cx="3259262" cy="1658074"/>
          </a:xfrm>
          <a:prstGeom prst="cloudCallout">
            <a:avLst>
              <a:gd name="adj1" fmla="val -39298"/>
              <a:gd name="adj2" fmla="val 74737"/>
            </a:avLst>
          </a:prstGeom>
          <a:solidFill>
            <a:srgbClr val="5D9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Nâng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cao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kỹ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năng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cần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thiết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1C0C5988-99A3-4855-950B-D9D66B7ECD1C}"/>
              </a:ext>
            </a:extLst>
          </p:cNvPr>
          <p:cNvSpPr/>
          <p:nvPr/>
        </p:nvSpPr>
        <p:spPr>
          <a:xfrm rot="334252">
            <a:off x="5270786" y="4359666"/>
            <a:ext cx="3808315" cy="1522343"/>
          </a:xfrm>
          <a:prstGeom prst="cloudCallout">
            <a:avLst>
              <a:gd name="adj1" fmla="val -39583"/>
              <a:gd name="adj2" fmla="val 627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Đạt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đ</a:t>
            </a:r>
            <a:r>
              <a:rPr lang="vi-VN" sz="2250" dirty="0">
                <a:latin typeface="Roboto" panose="02000000000000000000" pitchFamily="2" charset="0"/>
                <a:ea typeface="Roboto" panose="02000000000000000000" pitchFamily="2" charset="0"/>
              </a:rPr>
              <a:t>ư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ợc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các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mục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tiêu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đặt</a:t>
            </a:r>
            <a:r>
              <a:rPr lang="en-US" sz="2250">
                <a:latin typeface="Roboto" panose="02000000000000000000" pitchFamily="2" charset="0"/>
                <a:ea typeface="Roboto" panose="02000000000000000000" pitchFamily="2" charset="0"/>
              </a:rPr>
              <a:t> ra </a:t>
            </a:r>
            <a:r>
              <a:rPr lang="en-US" sz="2250" dirty="0">
                <a:latin typeface="Roboto" panose="02000000000000000000" pitchFamily="2" charset="0"/>
                <a:ea typeface="Roboto" panose="02000000000000000000" pitchFamily="2" charset="0"/>
              </a:rPr>
              <a:t>ban </a:t>
            </a:r>
            <a:r>
              <a:rPr lang="en-US" sz="2250" dirty="0" err="1">
                <a:latin typeface="Roboto" panose="02000000000000000000" pitchFamily="2" charset="0"/>
                <a:ea typeface="Roboto" panose="02000000000000000000" pitchFamily="2" charset="0"/>
              </a:rPr>
              <a:t>đầu</a:t>
            </a:r>
            <a:endParaRPr lang="en-US" sz="22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D75A2-4A92-4B60-A964-8AADEC10338B}"/>
              </a:ext>
            </a:extLst>
          </p:cNvPr>
          <p:cNvSpPr txBox="1"/>
          <p:nvPr/>
        </p:nvSpPr>
        <p:spPr>
          <a:xfrm>
            <a:off x="723413" y="542054"/>
            <a:ext cx="7896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V. KẾT QUẢ &amp; H</a:t>
            </a:r>
            <a:r>
              <a:rPr lang="vi-VN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ỚNG PHÁT TRIỂN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6014D-DCC8-4835-9082-53A7A3135084}"/>
              </a:ext>
            </a:extLst>
          </p:cNvPr>
          <p:cNvSpPr txBox="1"/>
          <p:nvPr/>
        </p:nvSpPr>
        <p:spPr>
          <a:xfrm>
            <a:off x="753893" y="1200789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88837-66C0-40C3-B908-8ED92C16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81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room, clock&#10;&#10;Description automatically generated">
            <a:extLst>
              <a:ext uri="{FF2B5EF4-FFF2-40B4-BE49-F238E27FC236}">
                <a16:creationId xmlns:a16="http://schemas.microsoft.com/office/drawing/2014/main" id="{1CCF297E-8223-422E-9D8A-0917B0FA1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357" y="2472890"/>
            <a:ext cx="2185715" cy="1523810"/>
          </a:xfrm>
          <a:prstGeom prst="rect">
            <a:avLst/>
          </a:prstGeom>
        </p:spPr>
      </p:pic>
      <p:pic>
        <p:nvPicPr>
          <p:cNvPr id="6" name="Picture 5" descr="A picture containing monitor, clock, screen, computer&#10;&#10;Description automatically generated">
            <a:extLst>
              <a:ext uri="{FF2B5EF4-FFF2-40B4-BE49-F238E27FC236}">
                <a16:creationId xmlns:a16="http://schemas.microsoft.com/office/drawing/2014/main" id="{F72D2C28-7D53-455D-BBBA-6FB5A52F57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336" y="2584674"/>
            <a:ext cx="2636738" cy="1235115"/>
          </a:xfrm>
          <a:prstGeom prst="rect">
            <a:avLst/>
          </a:prstGeom>
        </p:spPr>
      </p:pic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C7B3B90C-D505-4B24-A417-6C0E0383C86F}"/>
              </a:ext>
            </a:extLst>
          </p:cNvPr>
          <p:cNvSpPr/>
          <p:nvPr/>
        </p:nvSpPr>
        <p:spPr>
          <a:xfrm>
            <a:off x="5990453" y="2973551"/>
            <a:ext cx="963904" cy="62312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99E2A6-9FF5-42EA-B206-A5F5F6B913E0}"/>
              </a:ext>
            </a:extLst>
          </p:cNvPr>
          <p:cNvSpPr txBox="1"/>
          <p:nvPr/>
        </p:nvSpPr>
        <p:spPr>
          <a:xfrm flipH="1">
            <a:off x="6790176" y="3973407"/>
            <a:ext cx="232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Chạy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thử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tế</a:t>
            </a:r>
            <a:endParaRPr lang="en-US" dirty="0">
              <a:solidFill>
                <a:srgbClr val="0A304A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3" name="Arrow: Notched Right 22">
            <a:extLst>
              <a:ext uri="{FF2B5EF4-FFF2-40B4-BE49-F238E27FC236}">
                <a16:creationId xmlns:a16="http://schemas.microsoft.com/office/drawing/2014/main" id="{7162B651-5B15-4F0D-A8F1-7903ABA0B5DA}"/>
              </a:ext>
            </a:extLst>
          </p:cNvPr>
          <p:cNvSpPr/>
          <p:nvPr/>
        </p:nvSpPr>
        <p:spPr>
          <a:xfrm>
            <a:off x="2735465" y="2950861"/>
            <a:ext cx="963904" cy="62312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1A3A53-6F8C-45BB-A756-D4272B44B1BD}"/>
              </a:ext>
            </a:extLst>
          </p:cNvPr>
          <p:cNvSpPr txBox="1"/>
          <p:nvPr/>
        </p:nvSpPr>
        <p:spPr>
          <a:xfrm flipH="1">
            <a:off x="768295" y="3996700"/>
            <a:ext cx="232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lỗi</a:t>
            </a:r>
            <a:endParaRPr lang="en-US" dirty="0">
              <a:solidFill>
                <a:srgbClr val="0A304A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95BC1E-C277-44D7-BB83-2CD3DC6B0CD7}"/>
              </a:ext>
            </a:extLst>
          </p:cNvPr>
          <p:cNvSpPr txBox="1"/>
          <p:nvPr/>
        </p:nvSpPr>
        <p:spPr>
          <a:xfrm flipH="1">
            <a:off x="3640837" y="3996700"/>
            <a:ext cx="2323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rộng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thống</a:t>
            </a:r>
            <a:endParaRPr lang="en-US" dirty="0">
              <a:solidFill>
                <a:srgbClr val="0A304A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6C99E1-0E7A-46E2-8A06-E7391E42BE02}"/>
              </a:ext>
            </a:extLst>
          </p:cNvPr>
          <p:cNvSpPr txBox="1"/>
          <p:nvPr/>
        </p:nvSpPr>
        <p:spPr>
          <a:xfrm>
            <a:off x="749441" y="1143763"/>
            <a:ext cx="480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H</a:t>
            </a:r>
            <a:r>
              <a:rPr lang="vi-VN" sz="2400" dirty="0">
                <a:solidFill>
                  <a:schemeClr val="bg2">
                    <a:lumMod val="10000"/>
                  </a:schemeClr>
                </a:solidFill>
              </a:rPr>
              <a:t>ư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ớng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BAA47A-FEE2-40E6-A324-C660A22657A8}"/>
              </a:ext>
            </a:extLst>
          </p:cNvPr>
          <p:cNvSpPr txBox="1"/>
          <p:nvPr/>
        </p:nvSpPr>
        <p:spPr>
          <a:xfrm>
            <a:off x="699910" y="484062"/>
            <a:ext cx="7896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V. KẾT QUẢ &amp; H</a:t>
            </a:r>
            <a:r>
              <a:rPr lang="vi-VN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Ư</a:t>
            </a:r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ỚNG PHÁT TRIỂN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44E026-CC7F-4477-9D7A-D7153598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30" name="Picture 6" descr="Market, ecommerce, research, secondary icon - Download on Iconfinder">
            <a:extLst>
              <a:ext uri="{FF2B5EF4-FFF2-40B4-BE49-F238E27FC236}">
                <a16:creationId xmlns:a16="http://schemas.microsoft.com/office/drawing/2014/main" id="{D00559EC-59B9-458A-83B0-23A199027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34189"/>
            <a:ext cx="1536083" cy="1536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982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D0D93D-2030-436E-A721-E56846B8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118AD-7A41-46AA-9E24-A4DD4E96D2A3}"/>
              </a:ext>
            </a:extLst>
          </p:cNvPr>
          <p:cNvSpPr txBox="1"/>
          <p:nvPr/>
        </p:nvSpPr>
        <p:spPr>
          <a:xfrm>
            <a:off x="442736" y="702462"/>
            <a:ext cx="7896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A304A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CÂU HỎI</a:t>
            </a:r>
          </a:p>
        </p:txBody>
      </p:sp>
      <p:pic>
        <p:nvPicPr>
          <p:cNvPr id="1026" name="Picture 2" descr="Ask Us A Question? | PureU Inc">
            <a:extLst>
              <a:ext uri="{FF2B5EF4-FFF2-40B4-BE49-F238E27FC236}">
                <a16:creationId xmlns:a16="http://schemas.microsoft.com/office/drawing/2014/main" id="{82104109-4B20-454E-9FE1-F92BC486A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752600"/>
            <a:ext cx="5581650" cy="3695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192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B3A7045-7485-4034-8FBE-960F37C869E4}"/>
              </a:ext>
            </a:extLst>
          </p:cNvPr>
          <p:cNvSpPr txBox="1"/>
          <p:nvPr/>
        </p:nvSpPr>
        <p:spPr>
          <a:xfrm>
            <a:off x="1828800" y="1295400"/>
            <a:ext cx="6159273" cy="438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cap="all" dirty="0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CẢM ƠN QUÝ THẦY CÔ ĐÃ THEO DÕI</a:t>
            </a:r>
          </a:p>
        </p:txBody>
      </p:sp>
      <p:sp>
        <p:nvSpPr>
          <p:cNvPr id="25" name="Thought Bubble: Cloud 24">
            <a:extLst>
              <a:ext uri="{FF2B5EF4-FFF2-40B4-BE49-F238E27FC236}">
                <a16:creationId xmlns:a16="http://schemas.microsoft.com/office/drawing/2014/main" id="{90BBBA38-B678-4D05-BB78-B6332F328853}"/>
              </a:ext>
            </a:extLst>
          </p:cNvPr>
          <p:cNvSpPr/>
          <p:nvPr/>
        </p:nvSpPr>
        <p:spPr>
          <a:xfrm>
            <a:off x="533400" y="838200"/>
            <a:ext cx="7905750" cy="4084359"/>
          </a:xfrm>
          <a:prstGeom prst="cloudCallout">
            <a:avLst>
              <a:gd name="adj1" fmla="val -30771"/>
              <a:gd name="adj2" fmla="val 81222"/>
            </a:avLst>
          </a:prstGeom>
          <a:solidFill>
            <a:srgbClr val="104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cap="all" dirty="0">
                <a:ln w="3175" cmpd="sng">
                  <a:noFill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ƠN QUÝ THẦY CÔ ĐÃ THEO DÕI</a:t>
            </a:r>
          </a:p>
        </p:txBody>
      </p:sp>
    </p:spTree>
    <p:extLst>
      <p:ext uri="{BB962C8B-B14F-4D97-AF65-F5344CB8AC3E}">
        <p14:creationId xmlns:p14="http://schemas.microsoft.com/office/powerpoint/2010/main" val="3699358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3864"/>
      </a:accent1>
      <a:accent2>
        <a:srgbClr val="2F5496"/>
      </a:accent2>
      <a:accent3>
        <a:srgbClr val="A5A5A5"/>
      </a:accent3>
      <a:accent4>
        <a:srgbClr val="FFFFFF"/>
      </a:accent4>
      <a:accent5>
        <a:srgbClr val="5B9BD5"/>
      </a:accent5>
      <a:accent6>
        <a:srgbClr val="1F3864"/>
      </a:accent6>
      <a:hlink>
        <a:srgbClr val="1F3864"/>
      </a:hlink>
      <a:folHlink>
        <a:srgbClr val="1F386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2364</TotalTime>
  <Words>474</Words>
  <Application>Microsoft Office PowerPoint</Application>
  <PresentationFormat>On-screen Show (4:3)</PresentationFormat>
  <Paragraphs>117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Roboto</vt:lpstr>
      <vt:lpstr>Times New Roman</vt:lpstr>
      <vt:lpstr>Wingdings</vt:lpstr>
      <vt:lpstr>Office Theme</vt:lpstr>
      <vt:lpstr>BỘ THÔNG TIN VÀ TRUYỀN THÔNG HỌC VIỆN CÔNG NGHỆ BƯU CHÍNH VIỄN THÔNG  CƠ SỞ TP. HỒ CHÍ MINH</vt:lpstr>
      <vt:lpstr>PowerPoint Presentation</vt:lpstr>
      <vt:lpstr>MỤC ĐÍCH CHỌN ĐỀ TÀI</vt:lpstr>
      <vt:lpstr>II. CÁC CÔNG CỤ &amp; CÔNG NGHỆ SỬ DỤNG</vt:lpstr>
      <vt:lpstr>II. CÁC CÔNG CỤ &amp; CÔNG NGHỆ SỬ DỤNG</vt:lpstr>
      <vt:lpstr>III. PHÂN TÍCH &amp; THIẾT KẾ HỆ THỐNG</vt:lpstr>
      <vt:lpstr>III. PHÂN TÍCH &amp; THIẾT KẾ HỆ THỐNG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XÂY DỰNG PHẦN MỀM QUẢN LÝ KHÁCH SẠN</dc:title>
  <dc:creator>Thy Dinh</dc:creator>
  <cp:lastModifiedBy>Thuy Pham</cp:lastModifiedBy>
  <cp:revision>195</cp:revision>
  <cp:lastPrinted>2020-11-17T16:06:24Z</cp:lastPrinted>
  <dcterms:created xsi:type="dcterms:W3CDTF">2006-08-16T00:00:00Z</dcterms:created>
  <dcterms:modified xsi:type="dcterms:W3CDTF">2020-12-26T08:25:51Z</dcterms:modified>
</cp:coreProperties>
</file>